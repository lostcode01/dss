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75EE3C-C2E3-E107-BB6D-E8AB0849F7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1DDDE-E540-450C-ED56-9768AA83A1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7EADB-CA2B-408E-8EFF-3730179ACA0F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F5380-8458-2352-509D-A63CEECE35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8AAB6-D951-F42E-6B29-89EA484545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B2C5-593C-4FB8-B49F-07D7C8B3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861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C75C9-7635-45D7-9607-730606F0840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55E68-8B33-4366-AB2D-CA71ADA78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0821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55E68-8B33-4366-AB2D-CA71ADA788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82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04C59-E338-4D28-A248-13B9389CF775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9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60C1-A4D4-48F5-A83D-99599DA92C5B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8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D9006-DFEB-4AC1-A142-F2CB8A2A367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0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EEAF-8501-4692-90A0-7F06C9229F20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4264-63E6-470F-BDFA-78676A4C7ED0}" type="datetime1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6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E4A7-1E17-4703-A955-5046DAA8CAD3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1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B682-3A1A-443B-9828-7B59BD8F8329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5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8C36C-BCED-4AEA-8D6C-0EC0DF74DA81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1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9DF0-A615-4DF0-A732-888C03EABF86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3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1E4B-366B-41C6-ACD6-3E39B2D16C7F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8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089F-6134-45B3-896C-AB46A3549881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625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376B4-9CCC-46C9-96D3-BDFF161BD90E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00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F03-0115-43DF-A3A7-4574981232F7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7365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5186D-AC1F-4FBD-9802-07BBF3B8AA5A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94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D78B-73EE-433A-AFDE-2E44B9CD590F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45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2A12-00CE-46D8-8782-F4318D7E8C69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9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89637-F438-4570-B788-C7B2F18753A4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15AA7CF-6790-43BA-A729-610164638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9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165A257-D090-D136-829D-41C520D2912D}"/>
              </a:ext>
            </a:extLst>
          </p:cNvPr>
          <p:cNvSpPr txBox="1">
            <a:spLocks/>
          </p:cNvSpPr>
          <p:nvPr/>
        </p:nvSpPr>
        <p:spPr>
          <a:xfrm>
            <a:off x="1563101" y="2478024"/>
            <a:ext cx="8772144" cy="12435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Международные классификационные общества и морские конвенции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A31DC4F-3A89-6DF1-6EFD-A7619C761D76}"/>
              </a:ext>
            </a:extLst>
          </p:cNvPr>
          <p:cNvSpPr txBox="1">
            <a:spLocks/>
          </p:cNvSpPr>
          <p:nvPr/>
        </p:nvSpPr>
        <p:spPr>
          <a:xfrm>
            <a:off x="2761488" y="3721608"/>
            <a:ext cx="7077456" cy="8686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err="1"/>
              <a:t>Тема</a:t>
            </a:r>
            <a:r>
              <a:rPr lang="en-US" sz="2000" dirty="0"/>
              <a:t>: «</a:t>
            </a:r>
            <a:r>
              <a:rPr lang="en-US" sz="2000" dirty="0" err="1"/>
              <a:t>Обеспечение</a:t>
            </a:r>
            <a:r>
              <a:rPr lang="en-US" sz="2000" dirty="0"/>
              <a:t> </a:t>
            </a:r>
            <a:r>
              <a:rPr lang="en-US" sz="2000" dirty="0" err="1"/>
              <a:t>безопасности</a:t>
            </a:r>
            <a:r>
              <a:rPr lang="en-US" sz="2000" dirty="0"/>
              <a:t> </a:t>
            </a:r>
            <a:r>
              <a:rPr lang="en-US" sz="2000" dirty="0" err="1"/>
              <a:t>мореплавания</a:t>
            </a:r>
            <a:r>
              <a:rPr lang="en-US" sz="2000" dirty="0"/>
              <a:t>»</a:t>
            </a:r>
          </a:p>
          <a:p>
            <a:endParaRPr lang="en-US" dirty="0"/>
          </a:p>
        </p:txBody>
      </p:sp>
      <p:pic>
        <p:nvPicPr>
          <p:cNvPr id="6" name="Image 2">
            <a:extLst>
              <a:ext uri="{FF2B5EF4-FFF2-40B4-BE49-F238E27FC236}">
                <a16:creationId xmlns:a16="http://schemas.microsoft.com/office/drawing/2014/main" id="{35736FBC-A003-37EF-C76A-DA733EAEFB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4143" y="-227628"/>
            <a:ext cx="13026631" cy="25044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1AC962D-1147-66FB-9BDC-D12F2AE12E49}"/>
              </a:ext>
            </a:extLst>
          </p:cNvPr>
          <p:cNvSpPr txBox="1">
            <a:spLocks/>
          </p:cNvSpPr>
          <p:nvPr/>
        </p:nvSpPr>
        <p:spPr>
          <a:xfrm>
            <a:off x="7924800" y="4910667"/>
            <a:ext cx="4038600" cy="1697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Хади Ш.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ДТККБ-41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Проверил: доц. Чанчиков В.А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409AD1-71D0-299E-01E1-98FDEC73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1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2299EECC-8571-194B-0F38-33D914DA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04" y="381000"/>
            <a:ext cx="7781544" cy="859055"/>
          </a:xfrm>
        </p:spPr>
        <p:txBody>
          <a:bodyPr/>
          <a:lstStyle/>
          <a:p>
            <a:r>
              <a:rPr lang="ru-RU" dirty="0"/>
              <a:t>Содержание 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1EF7D91-AEC7-6DB0-31C4-243F94704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50" y="1942870"/>
            <a:ext cx="10412942" cy="2073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Глава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Международно-правовое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регулирование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(ИМО, СОЛАС, ПДНВ, МППСС) 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Глава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Инженерно-технические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аспекты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человеческий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фактор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Глава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Экология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новые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вызовы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(МАРПОЛ, СМП,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Автономные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суда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79AA-6D94-F4AA-9B84-CF8C2763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9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7A74E-232C-4159-DA50-F052A3EE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37528-AFA0-85F0-D338-7E80243A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C8ACF7C-CF54-B668-71E1-600D5C4CAB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829" y="2110500"/>
            <a:ext cx="7696645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Морской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более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80%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мировой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торговли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Рост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габаритов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судов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(ULCS,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гигантские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танкеры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повышает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риски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Смещение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причин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аварийности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отказов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 «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человеческому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киберугрозам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Северного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морского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РФ</a:t>
            </a:r>
          </a:p>
        </p:txBody>
      </p:sp>
    </p:spTree>
    <p:extLst>
      <p:ext uri="{BB962C8B-B14F-4D97-AF65-F5344CB8AC3E}">
        <p14:creationId xmlns:p14="http://schemas.microsoft.com/office/powerpoint/2010/main" val="1377413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C761-A456-81F3-5692-36688444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исследования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D31CC-B0CE-2009-D8B7-015D263A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90558DC-A697-3552-C00A-A41D607290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2955" y="1746487"/>
            <a:ext cx="1117778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Комплексный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мореплавания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регулирования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эгидой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ИМО.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конвенции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РФ.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роль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классификационных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обществ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фактора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экологические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автономные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38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524F-759D-BCC5-F9D1-87E49136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Глава 1. Правовые основы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B1540-C6F1-67A8-AAAC-54D5F8888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4" y="2045494"/>
            <a:ext cx="9990666" cy="3880773"/>
          </a:xfrm>
        </p:spPr>
        <p:txBody>
          <a:bodyPr/>
          <a:lstStyle/>
          <a:p>
            <a:r>
              <a:rPr lang="ru-RU" b="1" dirty="0"/>
              <a:t>Роль ИМО (IMO) в мировом судоходстве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pPr marL="0" indent="45720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Международная морская организация (ИМО) является глобальным регулятором, создающим единые правила для обеспечения безопасности и предотвращения загрязнения с судов. Ее деятельность основана на принципе «целевых стандартов» (Goal-Based Standards), где организация устанавливает цели безопасности, а государства и классификационные общества определяют технические способы их достижения. Это позволяет международному праву своевременно адаптироваться к появлению новых типов судов и технологий.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EAE65-8284-67AD-881A-0AE6FC6B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FE08-8AC6-8FCA-DCE5-DD16800E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ИМО и Комитеты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F26E8-1EF9-74D3-BF67-1D7AE5BF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595C127-D23E-3EC5-5DE5-4B49AC879E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830" y="2161217"/>
            <a:ext cx="6365150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MSC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Комитет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море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оборудования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MEPC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Комитет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защите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морской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среды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экология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конвенция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МАРПОЛ.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Борьба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«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флагами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аудита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государств-членов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494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57D0A-D9FB-0D1B-8F29-A86C95D3B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8A14C-E5BB-16EB-B582-F836BAD90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2" y="0"/>
            <a:ext cx="12076538" cy="52297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C1F0F6-11B0-1092-01CF-93973ED1B378}"/>
              </a:ext>
            </a:extLst>
          </p:cNvPr>
          <p:cNvSpPr txBox="1"/>
          <p:nvPr/>
        </p:nvSpPr>
        <p:spPr>
          <a:xfrm>
            <a:off x="3356811" y="5115108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Рис. 1. Схема конструктивного обеспечения непотопляемости судна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226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A627-3560-AD9B-054C-932FAAA3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Конвенция СОЛАС-74 (</a:t>
            </a:r>
            <a:r>
              <a:rPr lang="en-US" dirty="0"/>
              <a:t>SOLAS)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0BB07-CB7E-E821-E2AE-24B6D5F5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5205E03-568F-8ED6-34D7-089A08DCB7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761396"/>
            <a:ext cx="7760813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охране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жизни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море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Глава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II-1: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остойчивости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непотопляемости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Глава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навигационное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оборудование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(ГМССБ, АИС).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Глава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Кодекс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МКУБ (ISM Code)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ответственность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судовладельца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безопасностью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0795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3708-F5D1-DF7D-836D-6A178EBB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Конвенция ПДНВ-78 (</a:t>
            </a:r>
            <a:r>
              <a:rPr lang="en-US" dirty="0"/>
              <a:t>STCW)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28787-B7F5-B29E-9B4A-AA1E0EA9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A066EF-D7C2-2277-9974-3E597A418F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594" y="1930400"/>
            <a:ext cx="4751966" cy="290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дипломирования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моряков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несения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вахты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Манильские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поправки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2010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года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акцент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нетехнических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навыках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лидерство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Строгие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отдыха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минимум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сутки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предотвращения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усталости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67397E-8A84-A739-1598-CBBD54043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005" y="1201821"/>
            <a:ext cx="3771315" cy="4416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3989EE-F94B-9528-2F80-7BB573D38A67}"/>
              </a:ext>
            </a:extLst>
          </p:cNvPr>
          <p:cNvSpPr txBox="1"/>
          <p:nvPr/>
        </p:nvSpPr>
        <p:spPr>
          <a:xfrm>
            <a:off x="5676560" y="5656179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Рис. 2. Типовые маневры при расхождении судов согласно МППСС-72.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47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055A-306D-53DB-E657-F889C0B6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Правила МППСС-72 (</a:t>
            </a:r>
            <a:r>
              <a:rPr lang="en-US" b="1" dirty="0"/>
              <a:t>COLREG)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B0586-8625-BA7D-3425-A4C3F565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C5250BA-F5F4-5133-758B-B3E3050F0D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184740"/>
            <a:ext cx="8466666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Дорожный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кодекс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океана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предотвращения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столкновений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ответственность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судоводителя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проявление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должной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осмотрительности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постоянное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слуховое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наблюдение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Конструктивная безопасность обеспечивается делением корпуса на водонепроницаемые отсеки (см.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что позволяет судну сохранять плавучесть и остойчивость даже при повреждении наружной обшивки.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672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785C-E5E0-996E-6938-40C7E82B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Национальное законодательство и </a:t>
            </a:r>
            <a:r>
              <a:rPr lang="en-US" dirty="0"/>
              <a:t>PSC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B1394-1A86-E66E-DE6D-F61BB9CA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F6081C4-2B92-BE16-6C4B-0F7877DC79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209120"/>
            <a:ext cx="7183689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КТМ РФ: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закрепляющий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принципы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безопасности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России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Государственный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портовый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контроль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(PSC):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проверка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иностранных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судов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инспекторами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порта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Россия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член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Парижского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меморандума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(Paris MoU).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Право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задержание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(detention)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судна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устранения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серьезных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нарушений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464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6E707-7CCC-E8FC-5665-43302E9D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Глава 2. Техника и эксплуатация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9CF11-F62E-BFAA-E1D7-5B6F0E44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Классификационные общества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Установление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технических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стандартов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надзор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постройкой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РМРС (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Российский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морской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судоходства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национальный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экспертный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судно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подтвержденного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класса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теряет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право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плавание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страховку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36CCB-D458-5CDB-52A2-D35BCEA4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55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8DE5A-EEBE-99E9-63FF-4DB6B123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Непотопляемость и остойчивость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D9511-C074-AE73-0BF9-E2714B8B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84B840-C7A1-E952-4D63-796F70FFC5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745" y="2318345"/>
            <a:ext cx="8306244" cy="1704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Способность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сохранять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плавучесть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при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затоплении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отсеков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Проблема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уязвимость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сверхкрупных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судов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случай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«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Коста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Конкордия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»).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Риски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смещения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навалочных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грузов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зерно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руда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).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577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F6C9-8A85-63C8-8A5E-2E8FE1BC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старения флота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4074B-2574-5214-72B3-047DCFFC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B537F49-6867-A7A2-153F-AF5F2A03AC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62872" y="1525511"/>
            <a:ext cx="4455582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Значительная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флота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имеет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более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15–20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риска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коррозия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металла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усталостные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трещины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давление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заставляет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эксплуатировать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суда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предела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снижая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запас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38E0D-BFE8-326E-F1B5-AFE996539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272673"/>
            <a:ext cx="5225095" cy="4312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9B222A-E16C-4EE2-5E96-A17B01A8AF5B}"/>
              </a:ext>
            </a:extLst>
          </p:cNvPr>
          <p:cNvSpPr txBox="1"/>
          <p:nvPr/>
        </p:nvSpPr>
        <p:spPr>
          <a:xfrm>
            <a:off x="677334" y="5649476"/>
            <a:ext cx="610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Рис. 3. Глобальная связь: Районы плавания ГМССБ.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584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D447-7915-ABD7-A08C-EA22C8BD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Цифровая навигация: ГМССБ и ЭКНИС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43883-5EA1-21BE-40FC-85329B904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5888D9-11F2-1DBF-568C-503BFBB679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7565" y="2193126"/>
            <a:ext cx="7923003" cy="1247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ГМССБ (GMDSS):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спутниковая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радиосвязь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передачи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сигналов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бедствия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ЭКНИС (ECDIS):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электронные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карты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заменяющие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бумажные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Риск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Чрезмерное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доверие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к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автоматике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отключение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алярмов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экипажем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673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D9986-B0A5-36AF-D35E-3532CAE8C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Кибербезопасность на море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E56EB-AFC9-8050-1156-46155D78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CB40211-1356-5117-CF4D-9C8C13249E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3566" y="1930400"/>
            <a:ext cx="3880539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Резолюция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ИМО MSC.428(98):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обязательное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включение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киберрисков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СУБ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Угрозы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спуфинг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подмена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координат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GPS,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взлом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балластом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РФ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закона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«О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КИИ».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75A827-908A-994A-30CD-4E969EB8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489" y="1689978"/>
            <a:ext cx="4762745" cy="36069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6B4BEF-7EB4-5B3F-9A86-F17DDE3A3590}"/>
              </a:ext>
            </a:extLst>
          </p:cNvPr>
          <p:cNvSpPr txBox="1"/>
          <p:nvPr/>
        </p:nvSpPr>
        <p:spPr>
          <a:xfrm>
            <a:off x="4656851" y="5296963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Рис. 4. Модель «Швейцарского сыра» в анализе морских аварий.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299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70C30-35BA-0B40-C8E8-BAF60316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Человеческий фактор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6D02B-1A4C-A75F-395D-C6ECC812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583317E-2509-88E2-26D5-BA7C778CB8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5345" y="2138053"/>
            <a:ext cx="9220645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Человеческий фактор остается основной причиной аварийности, составляя от 75% до 96% всех инцидентов. Как показано 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согласно модели Джеймса Ризона, авария является результатом совпадения множества мелких ошибок («дыр в сыре») на разных уровнях: от действий экипажа до ошибок менеджмента компании. Для снижения этих рисков современные конвенции делают упор не только на технические знания, но и на психологическую подготовку и эффективную коммуникацию внутри экипажа.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259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A73A-F63C-7550-78F0-C62B0C591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 (</a:t>
            </a:r>
            <a:r>
              <a:rPr lang="en-US" dirty="0"/>
              <a:t>BRM/ERM)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EEE95-C022-2FC0-D1CD-6BA81ACF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CBE636E-6F09-CC82-AACD-08031C5FEA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3397" y="1776207"/>
            <a:ext cx="8596668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Bridge Resource Management: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навыков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лидерства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Культура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вызова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ответа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поощрение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младших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офицеров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высказывать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сомнения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капитану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Преодоление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языковых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барьеров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мультикультурных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экипажах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486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A163-E30A-6F93-FA33-252FA209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Глава 3. Экология и будущее</a:t>
            </a:r>
            <a:br>
              <a:rPr lang="ru-RU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62A01-3BF5-E10A-F7ED-2F6A663F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E68E9FA-25AB-AB44-AE8C-4CA24AB052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6400342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Конвенция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МАРПОЛ (MARPOL):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Защита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загрязнения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нефтью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химикатами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мусором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Обязательный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двойной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корпус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танкеров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инертных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газов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(СИГ)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предотвращения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взрывов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841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3C80-5148-0391-A993-9CB867FB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6AB49D-6A6A-5AB2-9F64-4BF1D278C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591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C2C9C0-554C-2FEB-BA79-E2A5D93C1A79}"/>
              </a:ext>
            </a:extLst>
          </p:cNvPr>
          <p:cNvSpPr txBox="1"/>
          <p:nvPr/>
        </p:nvSpPr>
        <p:spPr>
          <a:xfrm>
            <a:off x="2486643" y="5900758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Рис. 5. Акватория и ключевые порты Северного морского пути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812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7305-00B8-9ACA-4D09-B4B5C899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Новые экологические стандарты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F0319-E489-2607-7069-1FD09926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B0C116-7C38-A132-EDD4-F01103839E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9325886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Конвенция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балластным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водам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(BWM):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предотвращение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переноса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инвазивных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видов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Зоны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контроля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выбросов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(ECA):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малосернистого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топлива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скрубберов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Риск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маневренности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из-за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двигателей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(EEXI).</a:t>
            </a:r>
          </a:p>
        </p:txBody>
      </p:sp>
    </p:spTree>
    <p:extLst>
      <p:ext uri="{BB962C8B-B14F-4D97-AF65-F5344CB8AC3E}">
        <p14:creationId xmlns:p14="http://schemas.microsoft.com/office/powerpoint/2010/main" val="339368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A5F4-BA8C-7158-B87C-B03C533F6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Полярный кодекс и СМП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1F2D2-CE45-40BA-EDB2-D621555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87E4F6C-27D8-38F9-D411-9F50AC555E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4235" y="1929631"/>
            <a:ext cx="7995266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судов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Арктике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Антарктике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Выдача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Полярного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A, B, C).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Специфика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РФ: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обязательная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ледокольная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проводка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СМП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зимний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период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C5E0B-778B-6A72-8BA7-7ACA3EE3D586}"/>
              </a:ext>
            </a:extLst>
          </p:cNvPr>
          <p:cNvSpPr txBox="1"/>
          <p:nvPr/>
        </p:nvSpPr>
        <p:spPr>
          <a:xfrm>
            <a:off x="564235" y="3638530"/>
            <a:ext cx="8822864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на Северном морском пути (акватория 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жестко регулируется Полярным кодексом, учитывающим экстремально низкие температуры и необходимость ледокольной проводки для судов низкого ледового класса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328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D25A-DE5A-8D63-8D6A-0FAAB6C6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полярной навигации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8B80F-5B93-91D3-E7D2-D0C9FFDF6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74822F-86C2-E1AB-76CE-935B207764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059234"/>
            <a:ext cx="7477286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Обледенение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надстроек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угроза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остойчивости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Магнитные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аномалии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отсутствие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покрытия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спутников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Inmarsat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выше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75°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с.ш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Дефицит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портов-убежищ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трассе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СМП.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60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78B3-5E26-56A7-933D-8F9A34D2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Декарбонизация: Альтернативное топливо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9E78-D8C3-D206-5BD1-332D23CB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C01A2A7-3C8C-CE32-E603-41D697733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830" y="2297907"/>
            <a:ext cx="8596666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автономных судов (MASS) представляет собой революционный вызов для безопасности мореплавания. На сегодняшний день существует правовой вакуум: международные конвенции, такие как СОЛАС и МППСС, изначально писались для судов с экипажем и капитаном на борту. Главная проблема заключается в юридической ответственности — кто будет виноват в случае столкновения: разработчик алгоритмов ИИ или судовладелец? Решение этих вопросов требует глубокой модернизации всей системы морского права.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55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1E53C-26DA-6C3E-BB85-6A1977F3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Автономные суда (</a:t>
            </a:r>
            <a:r>
              <a:rPr lang="en-US" dirty="0"/>
              <a:t>MASS)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CCE1D-1314-08DB-A37F-2BC43EF33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7080E7-30F2-ED6A-5B6A-12F81BB1F2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829" y="1930400"/>
            <a:ext cx="768583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Четыре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степени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автоматизации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помощи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полностью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беспилотных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судов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Правовой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вакуум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неопределенность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ответственности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отсутствии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капитана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борту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Необходимость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адаптации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МППСС-72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взаимодействия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роботов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людей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0559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4AA9-9F61-C41E-CF3E-F21921837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0A213-0BC3-C968-8856-F8B47002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26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F64B8AC-18F2-C2E4-F204-338BDE64D8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8391686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Безопасность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это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сочетание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международных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конвенций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(ИМО)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строгого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национального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контроля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(PSC/РМРС).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Технический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прогресс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автоматизация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заменяют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человека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а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меняют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характер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рисков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Культура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безопасности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должна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формироваться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как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борту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так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и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береговом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офисе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Новые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вызовы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Арктика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автономия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требуют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обновления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правовой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базы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ближайшее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десятилетие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895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28FA-44A9-F5BF-75FD-0D6F7597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источников и благодарность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D4BBE-C0AD-5625-2097-EC57D4AA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A8304EB-63F2-DFA3-6ABF-916623E0E3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4408" y="2181046"/>
            <a:ext cx="7846255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Конвенции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СОЛАС, ПДНВ, МАРПОЛ, МППСС.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НПА РФ: КТМ РФ,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Правила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РМРС.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Отчеты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Allianz Safety, EMSA.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40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FD08-6F35-0556-0080-D0775CDF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AA7CF-6790-43BA-A729-610164638303}" type="slidenum">
              <a:rPr lang="en-US" smtClean="0"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0A707-DF54-0557-031A-5D64FC38372B}"/>
              </a:ext>
            </a:extLst>
          </p:cNvPr>
          <p:cNvSpPr txBox="1"/>
          <p:nvPr/>
        </p:nvSpPr>
        <p:spPr>
          <a:xfrm>
            <a:off x="3052011" y="3248344"/>
            <a:ext cx="61040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Спасибо за внимание! </a:t>
            </a:r>
            <a:endParaRPr lang="en-US" sz="4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70805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187</TotalTime>
  <Words>1264</Words>
  <Application>Microsoft Office PowerPoint</Application>
  <PresentationFormat>Widescreen</PresentationFormat>
  <Paragraphs>145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Google Sans Text</vt:lpstr>
      <vt:lpstr>Times New Roman</vt:lpstr>
      <vt:lpstr>Trebuchet MS</vt:lpstr>
      <vt:lpstr>Wingdings</vt:lpstr>
      <vt:lpstr>Wingdings 3</vt:lpstr>
      <vt:lpstr>Facet</vt:lpstr>
      <vt:lpstr>PowerPoint Presentation</vt:lpstr>
      <vt:lpstr>Содержание </vt:lpstr>
      <vt:lpstr>Актуальность темы</vt:lpstr>
      <vt:lpstr>Цель и задачи исследования</vt:lpstr>
      <vt:lpstr>Глава 1. Правовые основы</vt:lpstr>
      <vt:lpstr>Структура ИМО и Комитеты</vt:lpstr>
      <vt:lpstr>PowerPoint Presentation</vt:lpstr>
      <vt:lpstr>Конвенция СОЛАС-74 (SOLAS)</vt:lpstr>
      <vt:lpstr>Конвенция ПДНВ-78 (STCW)</vt:lpstr>
      <vt:lpstr>Правила МППСС-72 (COLREG) </vt:lpstr>
      <vt:lpstr>Национальное законодательство и PSC</vt:lpstr>
      <vt:lpstr>Глава 2. Техника и эксплуатация</vt:lpstr>
      <vt:lpstr>Непотопляемость и остойчивость</vt:lpstr>
      <vt:lpstr>Проблема старения флота</vt:lpstr>
      <vt:lpstr>Цифровая навигация: ГМССБ и ЭКНИС</vt:lpstr>
      <vt:lpstr>Кибербезопасность на море</vt:lpstr>
      <vt:lpstr>Человеческий фактор</vt:lpstr>
      <vt:lpstr>Управление ресурсами (BRM/ERM)</vt:lpstr>
      <vt:lpstr>Глава 3. Экология и будущее </vt:lpstr>
      <vt:lpstr>PowerPoint Presentation</vt:lpstr>
      <vt:lpstr>Новые экологические стандарты</vt:lpstr>
      <vt:lpstr>Полярный кодекс и СМП</vt:lpstr>
      <vt:lpstr>Риски полярной навигации</vt:lpstr>
      <vt:lpstr>Декарбонизация: Альтернативное топливо</vt:lpstr>
      <vt:lpstr>Автономные суда (MASS)</vt:lpstr>
      <vt:lpstr>Заключение</vt:lpstr>
      <vt:lpstr>Список источников и благодарность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7</cp:revision>
  <dcterms:created xsi:type="dcterms:W3CDTF">2026-04-02T16:50:07Z</dcterms:created>
  <dcterms:modified xsi:type="dcterms:W3CDTF">2026-04-03T16:40:03Z</dcterms:modified>
</cp:coreProperties>
</file>